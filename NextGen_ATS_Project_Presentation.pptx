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A5E9"/>
                </a:solidFill>
              </a:defRPr>
            </a:pPr>
            <a:r>
              <a:t>ENTERPRISE AI &amp; NLP RECRUITMENT PLATFORM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NextGen ATS</a:t>
            </a:r>
          </a:p>
          <a:p>
            <a:pPr>
              <a:spcAft>
                <a:spcPts val="2400"/>
              </a:spcAft>
              <a:defRPr sz="2000" b="1">
                <a:solidFill>
                  <a:srgbClr val="2563EB"/>
                </a:solidFill>
              </a:defRPr>
            </a:pPr>
            <a:r>
              <a:t>AI Resume Screening &amp; Hiring Intelligence with Interview Acceptance Analytics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Presented by: Varun Pandey  |  GitHub: @Varun00752/NextGen-ATS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Technologies: Python • Streamlit • Scikit-Learn NLP • TF-IDF • SQLite • ReportLab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01 // INDUSTRY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Recruitment Bottleneck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HIGH VOLUME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Resume Overload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Volume Crisis: </a:t>
            </a:r>
            <a:r>
              <a:rPr sz="1100">
                <a:solidFill>
                  <a:srgbClr val="94A3B8"/>
                </a:solidFill>
              </a:rPr>
              <a:t>Corporate job postings receive 250+ applications on average.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Recruiter Burnout: </a:t>
            </a:r>
            <a:r>
              <a:rPr sz="1100">
                <a:solidFill>
                  <a:srgbClr val="94A3B8"/>
                </a:solidFill>
              </a:rPr>
              <a:t>HR professionals spend an average of only 6 to 7 seconds per initial resume scan.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Manual Fatigue: </a:t>
            </a:r>
            <a:r>
              <a:rPr sz="1100">
                <a:solidFill>
                  <a:srgbClr val="94A3B8"/>
                </a:solidFill>
              </a:rPr>
              <a:t>Critical talent is routinely missed due to cognitive overload and superficial skimming.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SYSTEMIC BIAS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Flaws of Legacy ATS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Keyword Keyword Tricks: </a:t>
            </a:r>
            <a:r>
              <a:rPr sz="1100">
                <a:solidFill>
                  <a:srgbClr val="94A3B8"/>
                </a:solidFill>
              </a:rPr>
              <a:t>Candidates exploit exact-match filters by stuffing hidden buzzwords.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Zero Context: </a:t>
            </a:r>
            <a:r>
              <a:rPr sz="1100">
                <a:solidFill>
                  <a:srgbClr val="94A3B8"/>
                </a:solidFill>
              </a:rPr>
              <a:t>Legacy systems fail to evaluate actual project depth or tenure.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Black-Box Rejections: </a:t>
            </a:r>
            <a:r>
              <a:rPr sz="1100">
                <a:solidFill>
                  <a:srgbClr val="94A3B8"/>
                </a:solidFill>
              </a:rPr>
              <a:t>Candidates receive cold rejection templates with zero actionable feedback.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Random Noise: </a:t>
            </a:r>
            <a:r>
              <a:rPr sz="1100">
                <a:solidFill>
                  <a:srgbClr val="94A3B8"/>
                </a:solidFill>
              </a:rPr>
              <a:t>Rudimentary keyword matching yields high false-negative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ACTIONABLE OPPORTUNITY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The Missing Link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Company Fit Assessment: </a:t>
            </a:r>
            <a:r>
              <a:rPr sz="1100">
                <a:solidFill>
                  <a:srgbClr val="94A3B8"/>
                </a:solidFill>
              </a:rPr>
              <a:t>Lack of alignment between applicant strengths and corporate stack.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Interviewer Predictability: </a:t>
            </a:r>
            <a:r>
              <a:rPr sz="1100">
                <a:solidFill>
                  <a:srgbClr val="94A3B8"/>
                </a:solidFill>
              </a:rPr>
              <a:t>No metric exists to estimate whether an interviewer will accept a candidate.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Candidate Blindness: </a:t>
            </a:r>
            <a:r>
              <a:rPr sz="1100">
                <a:solidFill>
                  <a:srgbClr val="94A3B8"/>
                </a:solidFill>
              </a:rPr>
              <a:t>Applicants don't know what skills to bridge or what questions to prepare.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02 //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NextGen ATS: Objective &amp; Solution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SYSTEM GOALS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Core Project Objectives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Automate Resume Screening: </a:t>
            </a:r>
            <a:r>
              <a:rPr sz="1100">
                <a:solidFill>
                  <a:srgbClr val="94A3B8"/>
                </a:solidFill>
              </a:rPr>
              <a:t>Instantly ingest PDF, DOCX, and TXT resumes and extract structured profiles.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Deterministic AI Scoring: </a:t>
            </a:r>
            <a:r>
              <a:rPr sz="1100">
                <a:solidFill>
                  <a:srgbClr val="94A3B8"/>
                </a:solidFill>
              </a:rPr>
              <a:t>Eliminate stochastic random scoring; calculate 100% reproducible evaluations.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Semantic NLP Matching: </a:t>
            </a:r>
            <a:r>
              <a:rPr sz="1100">
                <a:solidFill>
                  <a:srgbClr val="94A3B8"/>
                </a:solidFill>
              </a:rPr>
              <a:t>Apply TF-IDF N-Gram vectorization and cosine similarity against real Job Descriptions.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Interviewer Acceptance Prediction: </a:t>
            </a:r>
            <a:r>
              <a:rPr sz="1100">
                <a:solidFill>
                  <a:srgbClr val="94A3B8"/>
                </a:solidFill>
              </a:rPr>
              <a:t>Deliver an actionable probability score reflecting company interview readiness.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Full ATS Workflow Lifecycle: </a:t>
            </a:r>
            <a:r>
              <a:rPr sz="1100">
                <a:solidFill>
                  <a:srgbClr val="94A3B8"/>
                </a:solidFill>
              </a:rPr>
              <a:t>Support batch screening, interactive candidate pipeline, and interview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CORE INNOVATION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Key Engineering Innovations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Company Acceptance Points: </a:t>
            </a:r>
            <a:r>
              <a:rPr sz="1100">
                <a:solidFill>
                  <a:srgbClr val="94A3B8"/>
                </a:solidFill>
              </a:rPr>
              <a:t>Generates explicit reasons why company interviewers will accept the candidate.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Actionable Interview Dossier: </a:t>
            </a:r>
            <a:r>
              <a:rPr sz="1100">
                <a:solidFill>
                  <a:srgbClr val="94A3B8"/>
                </a:solidFill>
              </a:rPr>
              <a:t>Guides candidates on technical questions and STAR-method project storytelling.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Strict Role-Based Security: </a:t>
            </a:r>
            <a:r>
              <a:rPr sz="1100">
                <a:solidFill>
                  <a:srgbClr val="94A3B8"/>
                </a:solidFill>
              </a:rPr>
              <a:t>Enterprise UI isolation for Administrators, Recruiters, and Candidates.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Multi-Tier Document Persistence: </a:t>
            </a:r>
            <a:r>
              <a:rPr sz="1100">
                <a:solidFill>
                  <a:srgbClr val="94A3B8"/>
                </a:solidFill>
              </a:rPr>
              <a:t>Stores raw uploaded files to disk with relational SQLite metadata links.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Automated Report Generation: </a:t>
            </a:r>
            <a:r>
              <a:rPr sz="1100">
                <a:solidFill>
                  <a:srgbClr val="94A3B8"/>
                </a:solidFill>
              </a:rPr>
              <a:t>Builds dynamic 2-page executive evaluation dossiers via ReportLab.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03 //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Multi-Stage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1031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1. Ingestion Layer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Multi-Format Parsing: </a:t>
            </a:r>
            <a:r>
              <a:rPr sz="1100">
                <a:solidFill>
                  <a:srgbClr val="94A3B8"/>
                </a:solidFill>
              </a:rPr>
              <a:t>Extracts raw text from PDF (pypdf/PyPDF2), Word (python-docx), and TXT.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File Persistence: </a:t>
            </a:r>
            <a:r>
              <a:rPr sz="1100">
                <a:solidFill>
                  <a:srgbClr val="94A3B8"/>
                </a:solidFill>
              </a:rPr>
              <a:t>Saves timestamped files to disk in /uploads.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Text Normalization: </a:t>
            </a:r>
            <a:r>
              <a:rPr sz="1100">
                <a:solidFill>
                  <a:srgbClr val="94A3B8"/>
                </a:solidFill>
              </a:rPr>
              <a:t>Cleans whitespace, unicode encodings, and control characters.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21031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2. NLP Entity Engine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Deterministic Skills: </a:t>
            </a:r>
            <a:r>
              <a:rPr sz="1100">
                <a:solidFill>
                  <a:srgbClr val="94A3B8"/>
                </a:solidFill>
              </a:rPr>
              <a:t>Scans against a curated 180+ technical and soft skills catalog.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Degree Recognition: </a:t>
            </a:r>
            <a:r>
              <a:rPr sz="1100">
                <a:solidFill>
                  <a:srgbClr val="94A3B8"/>
                </a:solidFill>
              </a:rPr>
              <a:t>Regex extraction of Ph.D., Master's, Bachelor's, and Diplomas.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Experience Detection: </a:t>
            </a:r>
            <a:r>
              <a:rPr sz="1100">
                <a:solidFill>
                  <a:srgbClr val="94A3B8"/>
                </a:solidFill>
              </a:rPr>
              <a:t>Extracts tenure duration and date ranges (e.g. 2020-2024).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21031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3. TF-IDF &amp; Scoring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N-Gram TF-IDF: </a:t>
            </a:r>
            <a:r>
              <a:rPr sz="1100">
                <a:solidFill>
                  <a:srgbClr val="94A3B8"/>
                </a:solidFill>
              </a:rPr>
              <a:t>Converts resume and JD into unigram &amp; bigram vectors.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Cosine Similarity: </a:t>
            </a:r>
            <a:r>
              <a:rPr sz="1100">
                <a:solidFill>
                  <a:srgbClr val="94A3B8"/>
                </a:solidFill>
              </a:rPr>
              <a:t>Measures mathematical alignment in vector space.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Weighted Composite: </a:t>
            </a:r>
            <a:r>
              <a:rPr sz="1100">
                <a:solidFill>
                  <a:srgbClr val="94A3B8"/>
                </a:solidFill>
              </a:rPr>
              <a:t>Combines Skills (35%), TF-IDF (25%), Exp (25%), Comm (15%).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10512"/>
            <a:ext cx="21031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4. Acceptance &amp; UI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Acceptance Engine: </a:t>
            </a:r>
            <a:r>
              <a:rPr sz="1100">
                <a:solidFill>
                  <a:srgbClr val="94A3B8"/>
                </a:solidFill>
              </a:rPr>
              <a:t>Computes interview acceptance probability &amp; company points.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Role-Based UI: </a:t>
            </a:r>
            <a:r>
              <a:rPr sz="1100">
                <a:solidFill>
                  <a:srgbClr val="94A3B8"/>
                </a:solidFill>
              </a:rPr>
              <a:t>Renders tailored views for Admin, Recruiter, and Candidate.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2-Page PDF Dossier: </a:t>
            </a:r>
            <a:r>
              <a:rPr sz="1100">
                <a:solidFill>
                  <a:srgbClr val="94A3B8"/>
                </a:solidFill>
              </a:rPr>
              <a:t>Compiles executive scorecards &amp; interview preparation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04 //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Mathematical Formulations &amp; NLP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NLP MATHEMATICS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TF-IDF Vector Space Model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Term Frequency (TF): </a:t>
            </a:r>
            <a:r>
              <a:rPr sz="1100">
                <a:solidFill>
                  <a:srgbClr val="94A3B8"/>
                </a:solidFill>
              </a:rPr>
              <a:t>Measures term prevalence within the resume: TF(t, d) = count(t, d) / total_words(d).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Inverse Document Frequency: </a:t>
            </a:r>
            <a:r>
              <a:rPr sz="1100">
                <a:solidFill>
                  <a:srgbClr val="94A3B8"/>
                </a:solidFill>
              </a:rPr>
              <a:t>Penalizes ubiquitous stopwords: IDF(t) = log(1 + N / (1 + df(t))) + 1.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TF-IDF Score: </a:t>
            </a:r>
            <a:r>
              <a:rPr sz="1100">
                <a:solidFill>
                  <a:srgbClr val="94A3B8"/>
                </a:solidFill>
              </a:rPr>
              <a:t>TF-IDF(t, d, D) = TF(t, d) * IDF(t).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Bigram Support (ngram_range=(1,2)): </a:t>
            </a:r>
            <a:r>
              <a:rPr sz="1100">
                <a:solidFill>
                  <a:srgbClr val="94A3B8"/>
                </a:solidFill>
              </a:rPr>
              <a:t>Captures vital compound terms such as 'Machine Learning', 'Deep Learning', 'Cloud Computing'.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Cosine Similarity: </a:t>
            </a:r>
            <a:r>
              <a:rPr sz="1100">
                <a:solidFill>
                  <a:srgbClr val="94A3B8"/>
                </a:solidFill>
              </a:rPr>
              <a:t>Sim(A, B) = (A · B) / (||A|| * ||B||) = cos(theta). Range: [0.0, 1.0].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SCORING MATRIX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Composite Multi-Factor Formula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35% Skill Match Score: </a:t>
            </a:r>
            <a:r>
              <a:rPr sz="1100">
                <a:solidFill>
                  <a:srgbClr val="94A3B8"/>
                </a:solidFill>
              </a:rPr>
              <a:t>Ratio of matched required skills: (Matched Skills / Required Skills) * 100.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25% TF-IDF Cosine Similarity: </a:t>
            </a:r>
            <a:r>
              <a:rPr sz="1100">
                <a:solidFill>
                  <a:srgbClr val="94A3B8"/>
                </a:solidFill>
              </a:rPr>
              <a:t>Semantic text relevance between candidate resume and full Job Description.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25% Experience Match Score: </a:t>
            </a:r>
            <a:r>
              <a:rPr sz="1100">
                <a:solidFill>
                  <a:srgbClr val="94A3B8"/>
                </a:solidFill>
              </a:rPr>
              <a:t>Ratio of verified tenure relative to stated requisition requirements.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15% Communication Quality: </a:t>
            </a:r>
            <a:r>
              <a:rPr sz="1100">
                <a:solidFill>
                  <a:srgbClr val="94A3B8"/>
                </a:solidFill>
              </a:rPr>
              <a:t>Type-Token Ratio (TTR) evaluating vocabulary diversity &amp; presentation structure.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Penalty: Fake Risk Deduction: </a:t>
            </a:r>
            <a:r>
              <a:rPr sz="1100">
                <a:solidFill>
                  <a:srgbClr val="94A3B8"/>
                </a:solidFill>
              </a:rPr>
              <a:t>Deterministic penalty applied if template placeholders or stuffing exceeds 40%.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05 // UNIQUE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Company Acceptance &amp; Interviewer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FOR RECRUITERS &amp; CANDIDATES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Interviewer Acceptance Predictor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Acceptance Probability (%): </a:t>
            </a:r>
            <a:r>
              <a:rPr sz="1100">
                <a:solidFill>
                  <a:srgbClr val="94A3B8"/>
                </a:solidFill>
              </a:rPr>
              <a:t>Grounds candidate hireability into a transparent confidence metric.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Categorical Confidence: </a:t>
            </a:r>
            <a:r>
              <a:rPr sz="1100">
                <a:solidFill>
                  <a:srgbClr val="94A3B8"/>
                </a:solidFill>
              </a:rPr>
              <a:t>Classifies profiles into High, Moderate, or Optimization Recommended.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Corporate Alignment Points: </a:t>
            </a:r>
            <a:r>
              <a:rPr sz="1100">
                <a:solidFill>
                  <a:srgbClr val="94A3B8"/>
                </a:solidFill>
              </a:rPr>
              <a:t>Explicit bullet points detailing why the interviewer will accept the candidate: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• Core Tech Alignment: </a:t>
            </a:r>
            <a:r>
              <a:rPr sz="1100">
                <a:solidFill>
                  <a:srgbClr val="94A3B8"/>
                </a:solidFill>
              </a:rPr>
              <a:t>Verified mastery in critical tech stack reduces corporate ramp-up time.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• Practical Tenure: </a:t>
            </a:r>
            <a:r>
              <a:rPr sz="1100">
                <a:solidFill>
                  <a:srgbClr val="94A3B8"/>
                </a:solidFill>
              </a:rPr>
              <a:t>Demonstrated domain exposure assures rapid independent contribution.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• Structured Presentation: </a:t>
            </a:r>
            <a:r>
              <a:rPr sz="1100">
                <a:solidFill>
                  <a:srgbClr val="94A3B8"/>
                </a:solidFill>
              </a:rPr>
              <a:t>High communication rating indicates cross-functional collaboration.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CANDIDATE EMPOWERMENT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Actionable Interview Preparation Guide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Skill Gap Bridging: </a:t>
            </a:r>
            <a:r>
              <a:rPr sz="1100">
                <a:solidFill>
                  <a:srgbClr val="94A3B8"/>
                </a:solidFill>
              </a:rPr>
              <a:t>Directly instructs candidates on how to explain missing technologies in the interview.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STAR Storytelling Framework: </a:t>
            </a:r>
            <a:r>
              <a:rPr sz="1100">
                <a:solidFill>
                  <a:srgbClr val="94A3B8"/>
                </a:solidFill>
              </a:rPr>
              <a:t>Coaches candidates to present accomplishments as Situation, Task, Action, and Quantifiable Results.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Architecture Readiness: </a:t>
            </a:r>
            <a:r>
              <a:rPr sz="1100">
                <a:solidFill>
                  <a:srgbClr val="94A3B8"/>
                </a:solidFill>
              </a:rPr>
              <a:t>Prompts preparation for technical trade-offs, debugging, and system design.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Company Milestones Alignment: </a:t>
            </a:r>
            <a:r>
              <a:rPr sz="1100">
                <a:solidFill>
                  <a:srgbClr val="94A3B8"/>
                </a:solidFill>
              </a:rPr>
              <a:t>Guides research into company products and current scaling hurdles.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2-Page Printable Dossier: </a:t>
            </a:r>
            <a:r>
              <a:rPr sz="1100">
                <a:solidFill>
                  <a:srgbClr val="94A3B8"/>
                </a:solidFill>
              </a:rPr>
              <a:t>Exportable PDF report containing full candidate scorecard + interview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06 //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Comprehensive Platform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RECRUITER OPS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Batch Screening Lab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Bulk Resume Upload: </a:t>
            </a:r>
            <a:r>
              <a:rPr sz="1100">
                <a:solidFill>
                  <a:srgbClr val="94A3B8"/>
                </a:solidFill>
              </a:rPr>
              <a:t>Simultaneously process tens of resumes (PDF, DOCX, TXT).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Real-Time Ranking: </a:t>
            </a:r>
            <a:r>
              <a:rPr sz="1100">
                <a:solidFill>
                  <a:srgbClr val="94A3B8"/>
                </a:solidFill>
              </a:rPr>
              <a:t>Instant sorting by overall composite match score.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Automated Parsing: </a:t>
            </a:r>
            <a:r>
              <a:rPr sz="1100">
                <a:solidFill>
                  <a:srgbClr val="94A3B8"/>
                </a:solidFill>
              </a:rPr>
              <a:t>Immediate extraction of contact, education, and skill gap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ATS OPERATIONS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Candidate Pipeline &amp; Hub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Interactive Statusing: </a:t>
            </a:r>
            <a:r>
              <a:rPr sz="1100">
                <a:solidFill>
                  <a:srgbClr val="94A3B8"/>
                </a:solidFill>
              </a:rPr>
              <a:t>One-click transitions: Shortlisted, Under Review, Interview, Rejected, Hired.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Original File Download: </a:t>
            </a:r>
            <a:r>
              <a:rPr sz="1100">
                <a:solidFill>
                  <a:srgbClr val="94A3B8"/>
                </a:solidFill>
              </a:rPr>
              <a:t>Direct access to original uploaded resume files.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Interview Lifecycle: </a:t>
            </a:r>
            <a:r>
              <a:rPr sz="1100">
                <a:solidFill>
                  <a:srgbClr val="94A3B8"/>
                </a:solidFill>
              </a:rPr>
              <a:t>Schedule rounds (Google Meet, Zoom, In-Person), log feedback &amp;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SELF-SERVICE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Candidate Career Portal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Job Board &amp; 1-Click Apply: </a:t>
            </a:r>
            <a:r>
              <a:rPr sz="1100">
                <a:solidFill>
                  <a:srgbClr val="94A3B8"/>
                </a:solidFill>
              </a:rPr>
              <a:t>Browse active company openings and submit applications.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My Applications Dashboard: </a:t>
            </a:r>
            <a:r>
              <a:rPr sz="1100">
                <a:solidFill>
                  <a:srgbClr val="94A3B8"/>
                </a:solidFill>
              </a:rPr>
              <a:t>Inspect live application status, match scores, and missing skills.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My Interviews Ledger: </a:t>
            </a:r>
            <a:r>
              <a:rPr sz="1100">
                <a:solidFill>
                  <a:srgbClr val="94A3B8"/>
                </a:solidFill>
              </a:rPr>
              <a:t>Track upcoming technical rounds and meeting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07 // SECURITY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Role-Based Access Control (RBAC)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ROLE: ADMIN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Administrator Role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Full Platform Governance: </a:t>
            </a:r>
            <a:r>
              <a:rPr sz="1100">
                <a:solidFill>
                  <a:srgbClr val="94A3B8"/>
                </a:solidFill>
              </a:rPr>
              <a:t>Complete oversight across all departments and requisitions.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User Account Management: </a:t>
            </a:r>
            <a:r>
              <a:rPr sz="1100">
                <a:solidFill>
                  <a:srgbClr val="94A3B8"/>
                </a:solidFill>
              </a:rPr>
              <a:t>Elevate roles, reset user passwords, create enterprise users.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System Audit &amp; Logs: </a:t>
            </a:r>
            <a:r>
              <a:rPr sz="1100">
                <a:solidFill>
                  <a:srgbClr val="94A3B8"/>
                </a:solidFill>
              </a:rPr>
              <a:t>Inspect candidate master ledgers and database metrics.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Demo Credentials: </a:t>
            </a:r>
            <a:r>
              <a:rPr sz="1100">
                <a:solidFill>
                  <a:srgbClr val="94A3B8"/>
                </a:solidFill>
              </a:rPr>
              <a:t>admin@ats.com / admin123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ROLE: RECRUITER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Recruiter / HR Role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Requisition Creation: </a:t>
            </a:r>
            <a:r>
              <a:rPr sz="1100">
                <a:solidFill>
                  <a:srgbClr val="94A3B8"/>
                </a:solidFill>
              </a:rPr>
              <a:t>Publish and close company job requisitions.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Batch Screening Lab: </a:t>
            </a:r>
            <a:r>
              <a:rPr sz="1100">
                <a:solidFill>
                  <a:srgbClr val="94A3B8"/>
                </a:solidFill>
              </a:rPr>
              <a:t>Upload candidate pools and run automated NLP rankings.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Interview Management: </a:t>
            </a:r>
            <a:r>
              <a:rPr sz="1100">
                <a:solidFill>
                  <a:srgbClr val="94A3B8"/>
                </a:solidFill>
              </a:rPr>
              <a:t>Schedule interviews and submit technical feedback.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Demo Credentials: </a:t>
            </a:r>
            <a:r>
              <a:rPr sz="1100">
                <a:solidFill>
                  <a:srgbClr val="94A3B8"/>
                </a:solidFill>
              </a:rPr>
              <a:t>recruiter@ats.com / recruiter123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ROLE: CANDIDATE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Candidate Role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Strict UI Isolation: </a:t>
            </a:r>
            <a:r>
              <a:rPr sz="1100">
                <a:solidFill>
                  <a:srgbClr val="94A3B8"/>
                </a:solidFill>
              </a:rPr>
              <a:t>No access to recruiter dashboards or competitor resumes.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Open Jobs &amp; Apply: </a:t>
            </a:r>
            <a:r>
              <a:rPr sz="1100">
                <a:solidFill>
                  <a:srgbClr val="94A3B8"/>
                </a:solidFill>
              </a:rPr>
              <a:t>Submit resumes with automated screening feedback.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Acceptance Points Inspection: </a:t>
            </a:r>
            <a:r>
              <a:rPr sz="1100">
                <a:solidFill>
                  <a:srgbClr val="94A3B8"/>
                </a:solidFill>
              </a:rPr>
              <a:t>View why the company will accept their application.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Demo Credentials: </a:t>
            </a:r>
            <a:r>
              <a:rPr sz="1100">
                <a:solidFill>
                  <a:srgbClr val="94A3B8"/>
                </a:solidFill>
              </a:rPr>
              <a:t>candidate@ats.com / candidate123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08 // DATA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Relational Database Schema (SQLite3)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SCHEMA ARCHITECTURE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Core Entities &amp; Relationships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users Table: </a:t>
            </a:r>
            <a:r>
              <a:rPr sz="1100">
                <a:solidFill>
                  <a:srgbClr val="94A3B8"/>
                </a:solidFill>
              </a:rPr>
              <a:t>id (PK), full_name, email (UNIQUE), password (SHA-256), role, department, created_at.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jobs Table: </a:t>
            </a:r>
            <a:r>
              <a:rPr sz="1100">
                <a:solidFill>
                  <a:srgbClr val="94A3B8"/>
                </a:solidFill>
              </a:rPr>
              <a:t>id (PK), job_title, department, required_skills, experience_required, job_description, created_by, status.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candidates Table: </a:t>
            </a:r>
            <a:r>
              <a:rPr sz="1100">
                <a:solidFill>
                  <a:srgbClr val="94A3B8"/>
                </a:solidFill>
              </a:rPr>
              <a:t>id (PK), candidate_name, email, phone, education, experience, skills, resume_text, job_role, score, skill_score, experience_score, communication_score, fake_resume_score, confidence_level, recommendation, skill_gap, status, interview_status, resume_file_path.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interviews Table: </a:t>
            </a:r>
            <a:r>
              <a:rPr sz="1100">
                <a:solidFill>
                  <a:srgbClr val="94A3B8"/>
                </a:solidFill>
              </a:rPr>
              <a:t>id (PK), candidate_name, candidate_email, job_role, interview_date, interview_time, mode, interviewer, status, feedback, created_at.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DATA BEST PRACTICES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Storage &amp; Data Safety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Relational Integrity: </a:t>
            </a:r>
            <a:r>
              <a:rPr sz="1100">
                <a:solidFill>
                  <a:srgbClr val="94A3B8"/>
                </a:solidFill>
              </a:rPr>
              <a:t>All applicant records tie directly to jobs, users, and interview outcomes.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File System Decoupling: </a:t>
            </a:r>
            <a:r>
              <a:rPr sz="1100">
                <a:solidFill>
                  <a:srgbClr val="94A3B8"/>
                </a:solidFill>
              </a:rPr>
              <a:t>Resume binaries (PDF, DOCX) are stored on disk in /uploads; database maintains file path references.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SQL Injection Protection: </a:t>
            </a:r>
            <a:r>
              <a:rPr sz="1100">
                <a:solidFill>
                  <a:srgbClr val="94A3B8"/>
                </a:solidFill>
              </a:rPr>
              <a:t>All database operations employ parameterized queries (? placeholders).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Automated Migration: </a:t>
            </a:r>
            <a:r>
              <a:rPr sz="1100">
                <a:solidFill>
                  <a:srgbClr val="94A3B8"/>
                </a:solidFill>
              </a:rPr>
              <a:t>init_db() verifies schema integrity and executes safe column migrations.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CSV &amp; PDF Exports: </a:t>
            </a:r>
            <a:r>
              <a:rPr sz="1100">
                <a:solidFill>
                  <a:srgbClr val="94A3B8"/>
                </a:solidFill>
              </a:rPr>
              <a:t>Instant backup and offline reporting via Pandas and ReportLab.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09 // 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Real-World Applications &amp; Industry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ENTERPRISE HR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Corporate Recruitment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70%+ Time Savings: </a:t>
            </a:r>
            <a:r>
              <a:rPr sz="1100">
                <a:solidFill>
                  <a:srgbClr val="94A3B8"/>
                </a:solidFill>
              </a:rPr>
              <a:t>Eliminates initial manual resume triaging across corporate HR teams.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Standardized Audits: </a:t>
            </a:r>
            <a:r>
              <a:rPr sz="1100">
                <a:solidFill>
                  <a:srgbClr val="94A3B8"/>
                </a:solidFill>
              </a:rPr>
              <a:t>Ensures all applicants are scored against identical objective criteria.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Faster Time-to-Hire: </a:t>
            </a:r>
            <a:r>
              <a:rPr sz="1100">
                <a:solidFill>
                  <a:srgbClr val="94A3B8"/>
                </a:solidFill>
              </a:rPr>
              <a:t>Accelerates candidate shortlisting from weeks to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CONSULTING &amp; STAFFING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Staffing Agencies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Multi-Client Screening: </a:t>
            </a:r>
            <a:r>
              <a:rPr sz="1100">
                <a:solidFill>
                  <a:srgbClr val="94A3B8"/>
                </a:solidFill>
              </a:rPr>
              <a:t>Match applicant pools across diverse client requisitions simultaneously.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Client-Ready Reports: </a:t>
            </a:r>
            <a:r>
              <a:rPr sz="1100">
                <a:solidFill>
                  <a:srgbClr val="94A3B8"/>
                </a:solidFill>
              </a:rPr>
              <a:t>Generate branded, professional 2-page candidate evaluation dossiers.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Skill Gap Consultation: </a:t>
            </a:r>
            <a:r>
              <a:rPr sz="1100">
                <a:solidFill>
                  <a:srgbClr val="94A3B8"/>
                </a:solidFill>
              </a:rPr>
              <a:t>Provide transparent upskilling roadmaps to job seekers.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HIGHER EDUCATION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Universities &amp; Career Labs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Resume Benchmark Tool: </a:t>
            </a:r>
            <a:r>
              <a:rPr sz="1100">
                <a:solidFill>
                  <a:srgbClr val="94A3B8"/>
                </a:solidFill>
              </a:rPr>
              <a:t>Students evaluate their resume against industry benchmark job descriptions.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Interview Readiness: </a:t>
            </a:r>
            <a:r>
              <a:rPr sz="1100">
                <a:solidFill>
                  <a:srgbClr val="94A3B8"/>
                </a:solidFill>
              </a:rPr>
              <a:t>Provides students with exact points to prepare before technical interviews.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Placement Analytics: </a:t>
            </a:r>
            <a:r>
              <a:rPr sz="1100">
                <a:solidFill>
                  <a:srgbClr val="94A3B8"/>
                </a:solidFill>
              </a:rPr>
              <a:t>Tracks department-wide skill distributions and industry preparedness.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10 //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Roadmap &amp; Technical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ADVANCED AI MODELS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Deep Learning &amp; Generative AI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Transformer Embeddings (BERT/RoBERTa): </a:t>
            </a:r>
            <a:r>
              <a:rPr sz="1100">
                <a:solidFill>
                  <a:srgbClr val="94A3B8"/>
                </a:solidFill>
              </a:rPr>
              <a:t>Transition from sparse TF-IDF vectors to dense semantic embeddings using Sentence-Transformers.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LLM-Powered Conversational Agent: </a:t>
            </a:r>
            <a:r>
              <a:rPr sz="1100">
                <a:solidFill>
                  <a:srgbClr val="94A3B8"/>
                </a:solidFill>
              </a:rPr>
              <a:t>Integrate LangChain / Gemini API for human-like conversational interview preparation and candidate QA.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Semantic Skill Ontology: </a:t>
            </a:r>
            <a:r>
              <a:rPr sz="1100">
                <a:solidFill>
                  <a:srgbClr val="94A3B8"/>
                </a:solidFill>
              </a:rPr>
              <a:t>Leverage knowledge graphs (e.g., ESCO, O*NET) to understand skill equivalencies (e.g. PyTorch ≈ TensorFlow).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ENTERPRISE SCALE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Enterprise Systems Integration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Automated SMTP &amp; Calendar Sync: </a:t>
            </a:r>
            <a:r>
              <a:rPr sz="1100">
                <a:solidFill>
                  <a:srgbClr val="94A3B8"/>
                </a:solidFill>
              </a:rPr>
              <a:t>Automate email interview invites and Google Calendar / Outlook synchronization.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Cloud Microservices Deployment: </a:t>
            </a:r>
            <a:r>
              <a:rPr sz="1100">
                <a:solidFill>
                  <a:srgbClr val="94A3B8"/>
                </a:solidFill>
              </a:rPr>
              <a:t>Containerize via Docker and deploy on AWS ECS / Kubernetes with PostgreSQL backend.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Multimodal Video Interview Analysis: </a:t>
            </a:r>
            <a:r>
              <a:rPr sz="1100">
                <a:solidFill>
                  <a:srgbClr val="94A3B8"/>
                </a:solidFill>
              </a:rPr>
              <a:t>Incorporate facial confidence, speech pace, and sentiment analysis for virtual interview rounds.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Fairness &amp; De-biasing Auditing: </a:t>
            </a:r>
            <a:r>
              <a:rPr sz="1100">
                <a:solidFill>
                  <a:srgbClr val="94A3B8"/>
                </a:solidFill>
              </a:rPr>
              <a:t>Implement fairness algorithms to guarantee demographic parity in screening.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11 //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2412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PROJECT IMPACT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Key Engineering Accomplishments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Production-Ready Full-Stack ATS: </a:t>
            </a:r>
            <a:r>
              <a:rPr sz="1100">
                <a:solidFill>
                  <a:srgbClr val="94A3B8"/>
                </a:solidFill>
              </a:rPr>
              <a:t>Delivered a multi-page, role-governed recruitment platform using Python, Streamlit, and SQLite.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Deterministic &amp; Explainable AI: </a:t>
            </a:r>
            <a:r>
              <a:rPr sz="1100">
                <a:solidFill>
                  <a:srgbClr val="94A3B8"/>
                </a:solidFill>
              </a:rPr>
              <a:t>Eliminated stochastic random scores in favor of robust NLP heuristics, TF-IDF cosine similarity, and structured entity extraction.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Novel Interviewer Acceptance Intelligence: </a:t>
            </a:r>
            <a:r>
              <a:rPr sz="1100">
                <a:solidFill>
                  <a:srgbClr val="94A3B8"/>
                </a:solidFill>
              </a:rPr>
              <a:t>Bridged the gap between candidate screening and hiring decisions by calculating Interview Acceptance Likelihood and generating actionable Company Acceptance Points.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Enterprise Access Control &amp; Safety: </a:t>
            </a:r>
            <a:r>
              <a:rPr sz="1100">
                <a:solidFill>
                  <a:srgbClr val="94A3B8"/>
                </a:solidFill>
              </a:rPr>
              <a:t>Implemented strict role-based access control (Admin, Recruiter, Candidate), SHA-256 security, and persistent file management.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EA5E9"/>
                </a:solidFill>
              </a:rPr>
              <a:t>• Open-Source &amp; Deployable: </a:t>
            </a:r>
            <a:r>
              <a:rPr sz="1100">
                <a:solidFill>
                  <a:srgbClr val="94A3B8"/>
                </a:solidFill>
              </a:rPr>
              <a:t>Published to GitHub under @Varun00752/NextGen-ATS with 1-click Streamlit Cloud deployment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